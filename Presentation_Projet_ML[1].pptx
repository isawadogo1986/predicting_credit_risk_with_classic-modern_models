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7" r:id="rId3"/>
    <p:sldId id="257" r:id="rId4"/>
    <p:sldId id="265" r:id="rId5"/>
    <p:sldId id="258" r:id="rId6"/>
    <p:sldId id="264" r:id="rId7"/>
    <p:sldId id="268" r:id="rId8"/>
    <p:sldId id="259" r:id="rId9"/>
    <p:sldId id="266" r:id="rId10"/>
    <p:sldId id="260" r:id="rId11"/>
    <p:sldId id="261" r:id="rId12"/>
    <p:sldId id="269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7"/>
    <p:restoredTop sz="94674"/>
  </p:normalViewPr>
  <p:slideViewPr>
    <p:cSldViewPr snapToGrid="0" snapToObjects="1">
      <p:cViewPr varScale="1">
        <p:scale>
          <a:sx n="67" d="100"/>
          <a:sy n="67" d="100"/>
        </p:scale>
        <p:origin x="12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195BF84-0B65-666F-F252-59023711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PROJET Machine Learning </a:t>
            </a:r>
            <a:b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69715EB-5F35-C862-9546-A2E786C4B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Groupe d’étudiants: </a:t>
            </a:r>
          </a:p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SAWADOGO Issa, KPOGNON Koffi, FOMBA Abdou, </a:t>
            </a:r>
          </a:p>
          <a:p>
            <a:pPr algn="ctr"/>
            <a:endParaRPr lang="fr-FR" sz="2000" dirty="0">
              <a:solidFill>
                <a:srgbClr val="313131"/>
              </a:solidFill>
              <a:effectLst/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Nom de l’Enseignante:  Lina FAIK</a:t>
            </a:r>
          </a:p>
          <a:p>
            <a:pPr marL="0" indent="0" algn="ctr">
              <a:buNone/>
            </a:pPr>
            <a:endParaRPr lang="fr-FR" sz="2000" dirty="0">
              <a:solidFill>
                <a:srgbClr val="313131"/>
              </a:solidFill>
              <a:effectLst/>
              <a:latin typeface="Helvetica" pitchFamily="2" charset="0"/>
            </a:endParaRPr>
          </a:p>
          <a:p>
            <a:pPr marL="0" indent="0" algn="ctr">
              <a:buNone/>
            </a:pPr>
            <a:endParaRPr lang="fr-FR" sz="2000" dirty="0">
              <a:solidFill>
                <a:srgbClr val="313131"/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fr-FR" sz="2000" dirty="0" smtClean="0">
                <a:solidFill>
                  <a:srgbClr val="313131"/>
                </a:solidFill>
                <a:effectLst/>
                <a:latin typeface="Helvetica" pitchFamily="2" charset="0"/>
              </a:rPr>
              <a:t>Du </a:t>
            </a:r>
            <a:r>
              <a:rPr lang="fr-FR" sz="2000" dirty="0">
                <a:solidFill>
                  <a:srgbClr val="313131"/>
                </a:solidFill>
                <a:effectLst/>
                <a:latin typeface="Helvetica" pitchFamily="2" charset="0"/>
              </a:rPr>
              <a:t>Sorbonne Data Analytics - Session 6 (2025-2026)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0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80B6D7B-1A85-1A95-D76B-EB9A0249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ECCABA2-C160-5EA7-CCF1-FCBD7B63B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I-Contexte et Problématique</a:t>
            </a:r>
          </a:p>
          <a:p>
            <a:r>
              <a:rPr lang="fr-FR" dirty="0"/>
              <a:t>II-Les variables</a:t>
            </a:r>
          </a:p>
          <a:p>
            <a:r>
              <a:rPr lang="fr-FR" dirty="0"/>
              <a:t>III-Prétraitement des données</a:t>
            </a:r>
          </a:p>
          <a:p>
            <a:r>
              <a:rPr lang="fr-FR" dirty="0"/>
              <a:t>IV-Méthodologie</a:t>
            </a:r>
          </a:p>
          <a:p>
            <a:r>
              <a:rPr lang="fr-FR" dirty="0"/>
              <a:t>V-Résultats et discussions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I-Contexte</a:t>
            </a:r>
            <a:r>
              <a:rPr b="1" dirty="0" smtClean="0"/>
              <a:t> </a:t>
            </a:r>
            <a:r>
              <a:rPr b="1" dirty="0"/>
              <a:t>et </a:t>
            </a:r>
            <a:r>
              <a:rPr lang="fr-FR" b="1" dirty="0" smtClean="0"/>
              <a:t>Problématique</a:t>
            </a:r>
            <a:endParaRPr lang="fr-F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dirty="0"/>
              <a:t>Le </a:t>
            </a:r>
            <a:r>
              <a:rPr lang="fr-FR" dirty="0" smtClean="0"/>
              <a:t>défaut</a:t>
            </a:r>
            <a:r>
              <a:rPr dirty="0" smtClean="0"/>
              <a:t> </a:t>
            </a:r>
            <a:r>
              <a:rPr dirty="0"/>
              <a:t>de </a:t>
            </a:r>
            <a:r>
              <a:rPr lang="fr-FR" dirty="0" smtClean="0"/>
              <a:t>paiement</a:t>
            </a:r>
            <a:r>
              <a:rPr dirty="0" smtClean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l’incapacité</a:t>
            </a:r>
            <a:r>
              <a:rPr dirty="0"/>
              <a:t> d’un </a:t>
            </a:r>
            <a:r>
              <a:rPr dirty="0" err="1"/>
              <a:t>emprunteur</a:t>
            </a:r>
            <a:r>
              <a:rPr dirty="0"/>
              <a:t> à </a:t>
            </a:r>
            <a:r>
              <a:rPr dirty="0" err="1"/>
              <a:t>honorer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engagements financiers.</a:t>
            </a:r>
            <a:r>
              <a:rPr lang="fr-FR" dirty="0"/>
              <a:t> </a:t>
            </a:r>
            <a:endParaRPr dirty="0"/>
          </a:p>
          <a:p>
            <a:pPr marL="0" indent="0" algn="just">
              <a:buNone/>
            </a:pPr>
            <a:r>
              <a:rPr dirty="0" err="1"/>
              <a:t>Enjeux</a:t>
            </a:r>
            <a:r>
              <a:rPr dirty="0"/>
              <a:t> :</a:t>
            </a:r>
          </a:p>
          <a:p>
            <a:pPr algn="just"/>
            <a:r>
              <a:rPr dirty="0" err="1"/>
              <a:t>Réduction</a:t>
            </a:r>
            <a:r>
              <a:rPr dirty="0"/>
              <a:t> des </a:t>
            </a:r>
            <a:r>
              <a:rPr dirty="0" err="1"/>
              <a:t>pertes</a:t>
            </a:r>
            <a:r>
              <a:rPr dirty="0"/>
              <a:t> pour les institutions </a:t>
            </a:r>
            <a:r>
              <a:rPr dirty="0" err="1"/>
              <a:t>financières</a:t>
            </a:r>
            <a:r>
              <a:rPr dirty="0"/>
              <a:t>.</a:t>
            </a:r>
          </a:p>
          <a:p>
            <a:pPr algn="just"/>
            <a:r>
              <a:rPr dirty="0"/>
              <a:t> </a:t>
            </a:r>
            <a:r>
              <a:rPr dirty="0" err="1"/>
              <a:t>Amélioration</a:t>
            </a:r>
            <a:r>
              <a:rPr dirty="0"/>
              <a:t> de la gestion du </a:t>
            </a:r>
            <a:r>
              <a:rPr dirty="0" err="1"/>
              <a:t>risque</a:t>
            </a:r>
            <a:r>
              <a:rPr dirty="0"/>
              <a:t>.</a:t>
            </a:r>
          </a:p>
          <a:p>
            <a:pPr algn="just"/>
            <a:r>
              <a:rPr lang="fr-FR" i="0" dirty="0">
                <a:solidFill>
                  <a:srgbClr val="1F1F1F"/>
                </a:solidFill>
                <a:effectLst/>
                <a:latin typeface="Google Sans Text"/>
              </a:rPr>
              <a:t>L'objectif de notre étude vise à prédire le risque de défaut de paiement à l'aide de plusieurs facteurs explicatifs et en usant des modèles connus dans la littérature et à l'aide des récentes techniques du machine </a:t>
            </a:r>
            <a:r>
              <a:rPr lang="fr-FR" i="0" dirty="0" err="1">
                <a:solidFill>
                  <a:srgbClr val="1F1F1F"/>
                </a:solidFill>
                <a:effectLst/>
                <a:latin typeface="Google Sans Text"/>
              </a:rPr>
              <a:t>learning</a:t>
            </a:r>
            <a:r>
              <a:rPr lang="fr-FR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4"/>
            <a:ext cx="1417835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/>
              <a:t>II-Les variables </a:t>
            </a:r>
            <a:endParaRPr b="1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xmlns="" id="{6794608A-5E3D-A748-CCA9-1AD4C89D0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44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Target:  Default 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" name="Espace réservé du contenu 7">
            <a:extLst>
              <a:ext uri="{FF2B5EF4-FFF2-40B4-BE49-F238E27FC236}">
                <a16:creationId xmlns:a16="http://schemas.microsoft.com/office/drawing/2014/main" xmlns="" id="{67632839-C21F-489D-090B-7E46A7E97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16" y="2260602"/>
            <a:ext cx="5469947" cy="404812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II-Les variables</a:t>
            </a:r>
            <a:endParaRPr b="1" dirty="0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xmlns="" id="{7FC0EF83-2A82-D23D-EFFD-6A96DF18B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388" y="1417638"/>
            <a:ext cx="7200899" cy="5264518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60350"/>
            <a:ext cx="1417835" cy="52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F74657E-3751-1EF7-608C-3D3ABB14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III-Prétraitement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0A03D70-A590-036A-DC65-3A0145A4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Vérification  des valeurs manquantes, des données dupliquées de la base et de la typologie des variables.</a:t>
            </a:r>
          </a:p>
          <a:p>
            <a:r>
              <a:rPr lang="fr-FR" dirty="0"/>
              <a:t>Analyse graphique des donnes.</a:t>
            </a:r>
          </a:p>
          <a:p>
            <a:r>
              <a:rPr lang="fr-FR" dirty="0"/>
              <a:t> Encodage des variables catégorielles</a:t>
            </a:r>
            <a:r>
              <a:rPr lang="fr-FR" dirty="0" smtClean="0"/>
              <a:t>.</a:t>
            </a:r>
          </a:p>
          <a:p>
            <a:r>
              <a:rPr lang="fr-FR" dirty="0" smtClean="0"/>
              <a:t>Choix </a:t>
            </a:r>
            <a:r>
              <a:rPr lang="fr-FR" dirty="0"/>
              <a:t>des variables les plus </a:t>
            </a:r>
            <a:r>
              <a:rPr lang="fr-FR" dirty="0" smtClean="0"/>
              <a:t>importantes à partir d’une régression </a:t>
            </a:r>
            <a:r>
              <a:rPr lang="fr-FR" dirty="0"/>
              <a:t>Logistique avec une </a:t>
            </a:r>
            <a:r>
              <a:rPr lang="fr-FR" dirty="0" smtClean="0"/>
              <a:t>régularisation L1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46062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3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EE55B4C-4904-4FAF-5D7A-163EB0BF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9171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fr-FR" sz="2400" dirty="0">
                <a:latin typeface="+mn-lt"/>
                <a:ea typeface="+mn-ea"/>
                <a:cs typeface="+mn-cs"/>
              </a:rPr>
              <a:t>Régression </a:t>
            </a:r>
            <a:r>
              <a:rPr lang="fr-FR" sz="2400" dirty="0">
                <a:latin typeface="+mn-lt"/>
                <a:ea typeface="+mn-ea"/>
                <a:cs typeface="+mn-cs"/>
              </a:rPr>
              <a:t>Logistique avec une </a:t>
            </a:r>
            <a:r>
              <a:rPr lang="fr-FR" sz="2400" dirty="0">
                <a:latin typeface="+mn-lt"/>
                <a:ea typeface="+mn-ea"/>
                <a:cs typeface="+mn-cs"/>
              </a:rPr>
              <a:t>régularisation </a:t>
            </a:r>
            <a:r>
              <a:rPr lang="fr-FR" sz="2400" dirty="0">
                <a:latin typeface="+mn-lt"/>
                <a:ea typeface="+mn-ea"/>
                <a:cs typeface="+mn-cs"/>
              </a:rPr>
              <a:t>L1 et choix des variables les plus importantes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E53AAC7-321B-FFE2-5F87-EC5F0E573E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40" y="1460500"/>
            <a:ext cx="8301519" cy="544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14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IV-Méthodologie</a:t>
            </a:r>
            <a:endParaRPr lang="fr-F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2465"/>
            <a:ext cx="8229600" cy="5304060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Modèles </a:t>
            </a:r>
            <a:r>
              <a:rPr lang="fr-FR" dirty="0" smtClean="0"/>
              <a:t>à tester </a:t>
            </a:r>
            <a:r>
              <a:rPr lang="fr-FR" dirty="0"/>
              <a:t>: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sz="2300" dirty="0" smtClean="0"/>
          </a:p>
          <a:p>
            <a:pPr marL="0" indent="0">
              <a:buNone/>
            </a:pPr>
            <a:r>
              <a:rPr lang="fr-FR" sz="2300" u="sng" dirty="0" smtClean="0"/>
              <a:t>Légende</a:t>
            </a:r>
            <a:endParaRPr lang="fr-FR" sz="2300" u="sng" dirty="0"/>
          </a:p>
          <a:p>
            <a:pPr marL="0" indent="0">
              <a:buNone/>
            </a:pPr>
            <a:r>
              <a:rPr lang="fr-FR" sz="2300" dirty="0"/>
              <a:t>★★★ Excellent | ▲▲▲ Très Bon | ▲▲△ Bon | ▲△△ Moyen | △△△ Faible</a:t>
            </a:r>
          </a:p>
          <a:p>
            <a:pPr marL="0" indent="0">
              <a:buNone/>
            </a:pPr>
            <a:endParaRPr lang="fr-FR" sz="2300" dirty="0"/>
          </a:p>
          <a:p>
            <a:pPr marL="0" indent="0">
              <a:buNone/>
            </a:pPr>
            <a:endParaRPr lang="fr-FR" dirty="0" smtClean="0"/>
          </a:p>
          <a:p>
            <a:r>
              <a:rPr dirty="0" err="1" smtClean="0"/>
              <a:t>Évaluation</a:t>
            </a:r>
            <a:r>
              <a:rPr dirty="0" smtClean="0"/>
              <a:t> </a:t>
            </a:r>
            <a:r>
              <a:rPr dirty="0"/>
              <a:t>: </a:t>
            </a:r>
            <a:r>
              <a:rPr lang="fr-FR" dirty="0"/>
              <a:t>F1-score,</a:t>
            </a:r>
            <a:r>
              <a:rPr dirty="0"/>
              <a:t>Recall</a:t>
            </a:r>
            <a:r>
              <a:rPr lang="fr-FR" dirty="0"/>
              <a:t>,</a:t>
            </a:r>
            <a:r>
              <a:rPr dirty="0"/>
              <a:t>Precision, AUC-ROC</a:t>
            </a:r>
            <a:r>
              <a:rPr lang="fr-FR" dirty="0"/>
              <a:t>, (</a:t>
            </a:r>
            <a:r>
              <a:rPr lang="fr-FR" dirty="0" err="1"/>
              <a:t>Accuracy</a:t>
            </a:r>
            <a:r>
              <a:rPr lang="fr-FR" dirty="0"/>
              <a:t>) </a:t>
            </a:r>
            <a:endParaRPr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2D9CEA16-8416-0B35-E3B8-4FF029BF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80939"/>
            <a:ext cx="8229605" cy="321967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46062"/>
            <a:ext cx="1417835" cy="52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FB59FAA-5349-2C09-E92B-6D0D00EF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V-Résultats</a:t>
            </a:r>
            <a:endParaRPr lang="fr-FR" b="1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xmlns="" id="{33C3167F-2144-538D-54C7-121E51E11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039" y="1600200"/>
            <a:ext cx="7603921" cy="4525963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3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V-Résultats</a:t>
            </a:r>
            <a:endParaRPr lang="fr-F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Régression Logistique : interprétable mais limitée.</a:t>
            </a:r>
          </a:p>
          <a:p>
            <a:r>
              <a:rPr lang="fr-FR" dirty="0" err="1" smtClean="0"/>
              <a:t>Random</a:t>
            </a:r>
            <a:r>
              <a:rPr lang="fr-FR" dirty="0" smtClean="0"/>
              <a:t> Forest : nette amélioration, plus robuste.</a:t>
            </a:r>
          </a:p>
          <a:p>
            <a:r>
              <a:rPr lang="fr-FR" dirty="0" smtClean="0"/>
              <a:t>Gradient </a:t>
            </a:r>
            <a:r>
              <a:rPr lang="fr-FR" dirty="0" err="1" smtClean="0"/>
              <a:t>Boosting</a:t>
            </a:r>
            <a:r>
              <a:rPr lang="fr-FR" dirty="0" smtClean="0"/>
              <a:t> : meilleures performances globales (AUC supérieur).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1F1F1F"/>
                </a:solidFill>
                <a:latin typeface="Google Sans Text"/>
              </a:rPr>
              <a:t>Le </a:t>
            </a:r>
            <a:r>
              <a:rPr lang="fr-FR" dirty="0">
                <a:solidFill>
                  <a:srgbClr val="1F1F1F"/>
                </a:solidFill>
                <a:latin typeface="Google Sans Text"/>
              </a:rPr>
              <a:t>choix en terme de performance a porté sur les modèles de réseaux de neurones et </a:t>
            </a:r>
            <a:r>
              <a:rPr lang="fr-FR" dirty="0" err="1">
                <a:solidFill>
                  <a:srgbClr val="1F1F1F"/>
                </a:solidFill>
                <a:latin typeface="Google Sans Text"/>
              </a:rPr>
              <a:t>LightGBM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fr-CA" b="1" dirty="0"/>
              <a:t>Mod</a:t>
            </a:r>
            <a:r>
              <a:rPr lang="" altLang="en-US" b="1" dirty="0"/>
              <a:t>è</a:t>
            </a:r>
            <a:r>
              <a:rPr lang="en-US" altLang="fr-CA" b="1" dirty="0"/>
              <a:t>le </a:t>
            </a:r>
            <a:r>
              <a:rPr lang="en-US" altLang="fr-CA" b="1" dirty="0" err="1"/>
              <a:t>LightGBM</a:t>
            </a:r>
            <a:r>
              <a:rPr lang="en-US" altLang="fr-CA" b="1" dirty="0"/>
              <a:t> + SHAP</a:t>
            </a:r>
            <a:endParaRPr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  <p:pic>
        <p:nvPicPr>
          <p:cNvPr id="7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4600" y="1415138"/>
            <a:ext cx="4129087" cy="4913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Apres avoir implémenté les différents modèles, le choix en terme de performance a porté sur les modèles de réseaux de neurones et </a:t>
            </a:r>
            <a:r>
              <a:rPr lang="fr-FR" b="0" i="0" dirty="0" err="1">
                <a:solidFill>
                  <a:srgbClr val="1F1F1F"/>
                </a:solidFill>
                <a:effectLst/>
                <a:latin typeface="Google Sans Text"/>
              </a:rPr>
              <a:t>LightGBM</a:t>
            </a:r>
            <a:r>
              <a:rPr lang="fr-FR" b="0" i="0" dirty="0" smtClean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 dirty="0" smtClean="0">
                <a:solidFill>
                  <a:srgbClr val="1F1F1F"/>
                </a:solidFill>
                <a:effectLst/>
                <a:latin typeface="Google Sans Text"/>
              </a:rPr>
              <a:t>Mais </a:t>
            </a: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en termes de perspectives, on pourrait faire un </a:t>
            </a:r>
            <a:r>
              <a:rPr lang="fr-FR" b="0" i="0" dirty="0" err="1">
                <a:solidFill>
                  <a:srgbClr val="1F1F1F"/>
                </a:solidFill>
                <a:effectLst/>
                <a:latin typeface="Google Sans Text"/>
              </a:rPr>
              <a:t>stacking</a:t>
            </a:r>
            <a:r>
              <a:rPr lang="fr-FR" b="0" i="0" dirty="0">
                <a:solidFill>
                  <a:srgbClr val="1F1F1F"/>
                </a:solidFill>
                <a:effectLst/>
                <a:latin typeface="Google Sans Text"/>
              </a:rPr>
              <a:t> ensemble pour avoir des métriques plus </a:t>
            </a:r>
            <a:r>
              <a:rPr lang="fr-FR" b="0" i="0" dirty="0" smtClean="0">
                <a:solidFill>
                  <a:srgbClr val="1F1F1F"/>
                </a:solidFill>
                <a:effectLst/>
                <a:latin typeface="Google Sans Text"/>
              </a:rPr>
              <a:t>intéressantes.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7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5883275"/>
          </a:xfrm>
        </p:spPr>
        <p:txBody>
          <a:bodyPr/>
          <a:lstStyle/>
          <a:p>
            <a:r>
              <a:rPr lang="fr-FR" dirty="0"/>
              <a:t>Merci pour votre attention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EA8E369B-6A13-E3FC-4BF8-16D078C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65" y="231775"/>
            <a:ext cx="1417835" cy="52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2894</TotalTime>
  <Words>316</Words>
  <Application>Microsoft Office PowerPoint</Application>
  <PresentationFormat>Affichage à l'écran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Google Sans Text</vt:lpstr>
      <vt:lpstr>Helvetica</vt:lpstr>
      <vt:lpstr>Office Theme</vt:lpstr>
      <vt:lpstr>PROJET Machine Learning  </vt:lpstr>
      <vt:lpstr>Sommaire </vt:lpstr>
      <vt:lpstr>I-Contexte et Problématique</vt:lpstr>
      <vt:lpstr>II-Les variables </vt:lpstr>
      <vt:lpstr>II-Les variables</vt:lpstr>
      <vt:lpstr>III-Prétraitement</vt:lpstr>
      <vt:lpstr>Régression Logistique avec une régularisation L1 et choix des variables les plus importantes</vt:lpstr>
      <vt:lpstr>IV-Méthodologie</vt:lpstr>
      <vt:lpstr>V-Résultats</vt:lpstr>
      <vt:lpstr>V-Résultats</vt:lpstr>
      <vt:lpstr>Modèle LightGBM + SHAP</vt:lpstr>
      <vt:lpstr>Conclusion et Perspectives</vt:lpstr>
      <vt:lpstr>Merci pour votre attention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 Machine learning 2</dc:title>
  <dc:subject/>
  <dc:creator>User</dc:creator>
  <cp:keywords/>
  <dc:description>generated using python-pptx</dc:description>
  <cp:lastModifiedBy>User</cp:lastModifiedBy>
  <cp:revision>32</cp:revision>
  <dcterms:created xsi:type="dcterms:W3CDTF">2013-01-27T09:14:16Z</dcterms:created>
  <dcterms:modified xsi:type="dcterms:W3CDTF">2025-09-12T08:35:22Z</dcterms:modified>
  <cp:category/>
</cp:coreProperties>
</file>