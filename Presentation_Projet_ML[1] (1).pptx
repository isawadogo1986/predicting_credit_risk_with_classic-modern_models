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7" r:id="rId3"/>
    <p:sldId id="257" r:id="rId4"/>
    <p:sldId id="265" r:id="rId5"/>
    <p:sldId id="258" r:id="rId6"/>
    <p:sldId id="264" r:id="rId7"/>
    <p:sldId id="268" r:id="rId8"/>
    <p:sldId id="259" r:id="rId9"/>
    <p:sldId id="266" r:id="rId10"/>
    <p:sldId id="260" r:id="rId11"/>
    <p:sldId id="261" r:id="rId12"/>
    <p:sldId id="269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E045D-2DD0-90DA-0919-52C3040EFDC3}" v="70" dt="2025-09-12T08:20:02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674"/>
  </p:normalViewPr>
  <p:slideViewPr>
    <p:cSldViewPr snapToGrid="0" snapToObjects="1">
      <p:cViewPr varScale="1">
        <p:scale>
          <a:sx n="67" d="100"/>
          <a:sy n="67" d="100"/>
        </p:scale>
        <p:origin x="12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195BF84-0B65-666F-F252-59023711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solidFill>
                  <a:srgbClr val="000000"/>
                </a:solidFill>
                <a:latin typeface="Helvetica"/>
                <a:cs typeface="Helvetica"/>
              </a:rPr>
              <a:t>Projet</a:t>
            </a:r>
            <a:r>
              <a:rPr lang="fr-FR" dirty="0">
                <a:solidFill>
                  <a:srgbClr val="000000"/>
                </a:solidFill>
                <a:effectLst/>
                <a:latin typeface="Helvetica"/>
                <a:cs typeface="Helvetica"/>
              </a:rPr>
              <a:t> Machine Learning </a:t>
            </a:r>
            <a:r>
              <a:rPr lang="fr-FR" dirty="0">
                <a:effectLst/>
                <a:latin typeface="Helvetica" pitchFamily="2" charset="0"/>
              </a:rPr>
              <a:t/>
            </a:r>
            <a:br>
              <a:rPr lang="fr-FR" dirty="0">
                <a:effectLst/>
                <a:latin typeface="Helvetica" pitchFamily="2" charset="0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69715EB-5F35-C862-9546-A2E786C4B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94802"/>
            <a:ext cx="8229600" cy="31313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fr-FR" sz="2000" dirty="0">
              <a:solidFill>
                <a:srgbClr val="31313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/>
                <a:cs typeface="Helvetica"/>
              </a:rPr>
              <a:t>Groupe d’étudiants:</a:t>
            </a:r>
            <a:endParaRPr lang="fr-FR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SAWADOGO Issa, KPOGNON Koffi, FOMBA Abdou, </a:t>
            </a:r>
          </a:p>
          <a:p>
            <a:pPr algn="ctr"/>
            <a:endParaRPr lang="fr-FR" sz="2000" dirty="0">
              <a:solidFill>
                <a:srgbClr val="313131"/>
              </a:solidFill>
              <a:effectLst/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Nom de l’Enseignante:  Lina FAIK</a:t>
            </a:r>
          </a:p>
          <a:p>
            <a:pPr marL="0" indent="0" algn="ctr">
              <a:buNone/>
            </a:pPr>
            <a:endParaRPr lang="fr-FR" sz="2000" dirty="0">
              <a:solidFill>
                <a:srgbClr val="313131"/>
              </a:solidFill>
              <a:effectLst/>
              <a:latin typeface="Helvetica" pitchFamily="2" charset="0"/>
            </a:endParaRPr>
          </a:p>
          <a:p>
            <a:pPr marL="0" indent="0" algn="ctr">
              <a:buNone/>
            </a:pPr>
            <a:endParaRPr lang="fr-FR" sz="2000" dirty="0">
              <a:solidFill>
                <a:srgbClr val="313131"/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Du Sorbonne Data Analytics - Session 6 (2025-2026)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B6A05162-9998-E653-B08F-41DB8445CE02}"/>
              </a:ext>
            </a:extLst>
          </p:cNvPr>
          <p:cNvSpPr txBox="1"/>
          <p:nvPr/>
        </p:nvSpPr>
        <p:spPr>
          <a:xfrm>
            <a:off x="1216327" y="2064589"/>
            <a:ext cx="72289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600" dirty="0">
                <a:solidFill>
                  <a:srgbClr val="313131"/>
                </a:solidFill>
                <a:latin typeface="Helvetica"/>
              </a:rPr>
              <a:t>Prédiction du Défaut de Paiement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59680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80B6D7B-1A85-1A95-D76B-EB9A0249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ECCABA2-C160-5EA7-CCF1-FCBD7B63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I-Contexte et Problématique</a:t>
            </a:r>
          </a:p>
          <a:p>
            <a:r>
              <a:rPr lang="fr-FR" dirty="0"/>
              <a:t>II-Les variables</a:t>
            </a:r>
          </a:p>
          <a:p>
            <a:r>
              <a:rPr lang="fr-FR" dirty="0"/>
              <a:t>III-Prétraitement des données</a:t>
            </a:r>
          </a:p>
          <a:p>
            <a:r>
              <a:rPr lang="fr-FR" dirty="0"/>
              <a:t>IV-Méthodologie</a:t>
            </a:r>
          </a:p>
          <a:p>
            <a:r>
              <a:rPr lang="fr-FR" dirty="0"/>
              <a:t>V-Résultats et discussions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I-Contexte</a:t>
            </a:r>
            <a:r>
              <a:rPr b="1" dirty="0"/>
              <a:t> et </a:t>
            </a:r>
            <a:r>
              <a:rPr lang="fr-FR" b="1" dirty="0"/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/>
              <a:t>Le </a:t>
            </a:r>
            <a:r>
              <a:rPr lang="fr-FR" dirty="0"/>
              <a:t>défaut</a:t>
            </a:r>
            <a:r>
              <a:rPr dirty="0"/>
              <a:t> de </a:t>
            </a:r>
            <a:r>
              <a:rPr lang="fr-FR" dirty="0"/>
              <a:t>paiement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l’incapacité</a:t>
            </a:r>
            <a:r>
              <a:rPr dirty="0"/>
              <a:t> d’un </a:t>
            </a:r>
            <a:r>
              <a:rPr dirty="0" err="1"/>
              <a:t>emprunteur</a:t>
            </a:r>
            <a:r>
              <a:rPr dirty="0"/>
              <a:t> à </a:t>
            </a:r>
            <a:r>
              <a:rPr dirty="0" err="1"/>
              <a:t>honorer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engagements financiers.</a:t>
            </a:r>
            <a:r>
              <a:rPr lang="fr-FR" dirty="0"/>
              <a:t> </a:t>
            </a:r>
            <a:endParaRPr dirty="0"/>
          </a:p>
          <a:p>
            <a:pPr marL="0" indent="0" algn="just">
              <a:buNone/>
            </a:pPr>
            <a:r>
              <a:rPr dirty="0" err="1"/>
              <a:t>Enjeux</a:t>
            </a:r>
            <a:r>
              <a:rPr dirty="0"/>
              <a:t> :</a:t>
            </a:r>
          </a:p>
          <a:p>
            <a:pPr algn="just"/>
            <a:r>
              <a:rPr dirty="0" err="1"/>
              <a:t>Réduction</a:t>
            </a:r>
            <a:r>
              <a:rPr dirty="0"/>
              <a:t> des </a:t>
            </a:r>
            <a:r>
              <a:rPr dirty="0" err="1"/>
              <a:t>pertes</a:t>
            </a:r>
            <a:r>
              <a:rPr dirty="0"/>
              <a:t> pour les institutions </a:t>
            </a:r>
            <a:r>
              <a:rPr dirty="0" err="1"/>
              <a:t>financières</a:t>
            </a:r>
            <a:r>
              <a:rPr dirty="0"/>
              <a:t>.</a:t>
            </a:r>
          </a:p>
          <a:p>
            <a:pPr algn="just"/>
            <a:r>
              <a:rPr dirty="0"/>
              <a:t> </a:t>
            </a:r>
            <a:r>
              <a:rPr dirty="0" err="1"/>
              <a:t>Amélioration</a:t>
            </a:r>
            <a:r>
              <a:rPr dirty="0"/>
              <a:t> de la gestion du </a:t>
            </a:r>
            <a:r>
              <a:rPr dirty="0" err="1"/>
              <a:t>risque</a:t>
            </a:r>
            <a:r>
              <a:rPr dirty="0"/>
              <a:t>.</a:t>
            </a:r>
          </a:p>
          <a:p>
            <a:pPr algn="just"/>
            <a:r>
              <a:rPr lang="fr-FR" i="0" dirty="0">
                <a:solidFill>
                  <a:srgbClr val="1F1F1F"/>
                </a:solidFill>
                <a:effectLst/>
                <a:latin typeface="Google Sans Text"/>
              </a:rPr>
              <a:t>L'objectif de notre étude vise à prédire le risque de défaut de paiement à l'aide de plusieurs facteurs explicatifs et en usant des modèles connus dans la littérature et à l'aide des récentes techniques du machine </a:t>
            </a:r>
            <a:r>
              <a:rPr lang="fr-FR" i="0" dirty="0" err="1">
                <a:solidFill>
                  <a:srgbClr val="1F1F1F"/>
                </a:solidFill>
                <a:effectLst/>
                <a:latin typeface="Google Sans Text"/>
              </a:rPr>
              <a:t>learning</a:t>
            </a:r>
            <a:r>
              <a:rPr lang="fr-FR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4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/>
              <a:t>II-Les variables </a:t>
            </a:r>
            <a:endParaRPr b="1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xmlns="" id="{6794608A-5E3D-A748-CCA9-1AD4C89D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44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Target:  Default 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Espace réservé du contenu 7">
            <a:extLst>
              <a:ext uri="{FF2B5EF4-FFF2-40B4-BE49-F238E27FC236}">
                <a16:creationId xmlns:a16="http://schemas.microsoft.com/office/drawing/2014/main" xmlns="" id="{67632839-C21F-489D-090B-7E46A7E97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16" y="2260602"/>
            <a:ext cx="5469947" cy="404812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82662"/>
          </a:xfrm>
        </p:spPr>
        <p:txBody>
          <a:bodyPr/>
          <a:lstStyle/>
          <a:p>
            <a:r>
              <a:rPr lang="fr-FR" b="1" dirty="0"/>
              <a:t>II-Les variables</a:t>
            </a:r>
            <a:endParaRPr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458200"/>
              </p:ext>
            </p:extLst>
          </p:nvPr>
        </p:nvGraphicFramePr>
        <p:xfrm>
          <a:off x="571499" y="1431929"/>
          <a:ext cx="7986714" cy="5133451"/>
        </p:xfrm>
        <a:graphic>
          <a:graphicData uri="http://schemas.openxmlformats.org/drawingml/2006/table">
            <a:tbl>
              <a:tblPr firstRow="1" firstCol="1" bandRow="1"/>
              <a:tblGrid>
                <a:gridCol w="1535447"/>
                <a:gridCol w="3898724"/>
                <a:gridCol w="1087858"/>
                <a:gridCol w="1464685"/>
              </a:tblGrid>
              <a:tr h="4596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Variable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Définition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Valeurs non-nulles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 de données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37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LoanID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Identifiant unique du prêt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Age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Âge du demandeur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Income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Revenu annuel du demandeur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LoanAmount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Montant du prêt demandé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CreditScore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Cote de crédit du demandeur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596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MonthsEmployed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mois d'emploi du demandeur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NumCreditLines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Nombre de lignes de crédit ouvertes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InterestRate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Taux d'intérêt du prêt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float64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LoanTerm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Durée du prêt en mois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DTIRatio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dette sur revenu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float64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Education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Niveau d'éducation du demandeur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596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EmploymentType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 d'emploi du demandeur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MaritalStatus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État civil du demandeur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HasMortgage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Indicateur de l'existence d'un prêt hypothécaire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HasDependents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Indicateur de l'existence de personnes à charge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LoanPurpose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Raison de la demande de prêt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HasCoSigner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Indicateur de l'existence d'un cosignataire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255347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object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F74657E-3751-1EF7-608C-3D3ABB14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III-Prétraitement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0A03D70-A590-036A-DC65-3A0145A4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Vérification  des valeurs manquantes, des données dupliquées de la base et de la typologie des variables.</a:t>
            </a:r>
          </a:p>
          <a:p>
            <a:r>
              <a:rPr lang="fr-FR" dirty="0"/>
              <a:t>Analyse graphique des donnes.</a:t>
            </a:r>
          </a:p>
          <a:p>
            <a:r>
              <a:rPr lang="fr-FR" dirty="0"/>
              <a:t> Encodage des variables catégorielles.</a:t>
            </a:r>
          </a:p>
          <a:p>
            <a:r>
              <a:rPr lang="fr-FR" dirty="0"/>
              <a:t>Choix des variables les plus importantes à partir d’une régression Logistique avec une régularisation L1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46062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3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EE55B4C-4904-4FAF-5D7A-163EB0BF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171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fr-FR" sz="2400" dirty="0">
                <a:latin typeface="+mn-lt"/>
                <a:ea typeface="+mn-ea"/>
                <a:cs typeface="+mn-cs"/>
              </a:rPr>
              <a:t>Régression Logistique avec une régularisation L1 et choix des variables les plus importantes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E53AAC7-321B-FFE2-5F87-EC5F0E573E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40" y="1460500"/>
            <a:ext cx="8301519" cy="544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4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IV-Méthodologie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2465"/>
            <a:ext cx="8229600" cy="5304060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Modèles à tester :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sz="2300" dirty="0"/>
          </a:p>
          <a:p>
            <a:pPr marL="0" indent="0">
              <a:buNone/>
            </a:pPr>
            <a:r>
              <a:rPr lang="fr-FR" sz="2300" u="sng" dirty="0"/>
              <a:t>Légende</a:t>
            </a:r>
          </a:p>
          <a:p>
            <a:pPr marL="0" indent="0">
              <a:buNone/>
            </a:pPr>
            <a:r>
              <a:rPr lang="fr-FR" sz="2300" dirty="0"/>
              <a:t>★★★ Excellent | ▲▲▲ Très Bon | ▲▲△ Bon | ▲△△ Moyen | △△△ Faible</a:t>
            </a:r>
          </a:p>
          <a:p>
            <a:pPr marL="0" indent="0">
              <a:buNone/>
            </a:pPr>
            <a:endParaRPr lang="fr-FR" sz="2300" dirty="0"/>
          </a:p>
          <a:p>
            <a:pPr marL="0" indent="0">
              <a:buNone/>
            </a:pPr>
            <a:endParaRPr lang="fr-FR" dirty="0"/>
          </a:p>
          <a:p>
            <a:r>
              <a:rPr dirty="0" err="1"/>
              <a:t>Évaluation</a:t>
            </a:r>
            <a:r>
              <a:rPr dirty="0"/>
              <a:t> : </a:t>
            </a:r>
            <a:r>
              <a:rPr lang="fr-FR" dirty="0"/>
              <a:t>F1-score,</a:t>
            </a:r>
            <a:r>
              <a:rPr dirty="0"/>
              <a:t>Recall</a:t>
            </a:r>
            <a:r>
              <a:rPr lang="fr-FR" dirty="0"/>
              <a:t>,</a:t>
            </a:r>
            <a:r>
              <a:rPr dirty="0"/>
              <a:t>Precision, AUC-ROC</a:t>
            </a:r>
            <a:r>
              <a:rPr lang="fr-FR" dirty="0"/>
              <a:t>, (</a:t>
            </a:r>
            <a:r>
              <a:rPr lang="fr-FR" dirty="0" err="1"/>
              <a:t>Accuracy</a:t>
            </a:r>
            <a:r>
              <a:rPr lang="fr-FR" dirty="0"/>
              <a:t>) </a:t>
            </a:r>
            <a:endParaRPr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2D9CEA16-8416-0B35-E3B8-4FF029BF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80939"/>
            <a:ext cx="8229605" cy="321967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46062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FB59FAA-5349-2C09-E92B-6D0D00EF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V-Résultats et Discussions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xmlns="" id="{33C3167F-2144-538D-54C7-121E51E11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039" y="1600200"/>
            <a:ext cx="7603921" cy="4525963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35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V-Résultats et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Régression Logistique : interprétable mais limitée.</a:t>
            </a:r>
          </a:p>
          <a:p>
            <a:r>
              <a:rPr lang="fr-FR" dirty="0" err="1"/>
              <a:t>Random</a:t>
            </a:r>
            <a:r>
              <a:rPr lang="fr-FR" dirty="0"/>
              <a:t> Forest : nette amélioration, plus robuste.</a:t>
            </a:r>
          </a:p>
          <a:p>
            <a:r>
              <a:rPr lang="fr-FR" dirty="0"/>
              <a:t>Gradient </a:t>
            </a:r>
            <a:r>
              <a:rPr lang="fr-FR" dirty="0" err="1"/>
              <a:t>Boosting</a:t>
            </a:r>
            <a:r>
              <a:rPr lang="fr-FR" dirty="0"/>
              <a:t> : meilleures performances globales (AUC supérieur).</a:t>
            </a:r>
          </a:p>
          <a:p>
            <a:pPr marL="0" indent="0">
              <a:buNone/>
            </a:pPr>
            <a:r>
              <a:rPr lang="fr-FR" dirty="0">
                <a:solidFill>
                  <a:srgbClr val="1F1F1F"/>
                </a:solidFill>
                <a:latin typeface="Google Sans Text"/>
              </a:rPr>
              <a:t>Le choix en terme de performance a porté sur les modèles de réseaux de neurones et </a:t>
            </a:r>
            <a:r>
              <a:rPr lang="fr-FR" dirty="0" err="1">
                <a:solidFill>
                  <a:srgbClr val="1F1F1F"/>
                </a:solidFill>
                <a:latin typeface="Google Sans Text"/>
              </a:rPr>
              <a:t>LightGBM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fr-CA" b="1" dirty="0"/>
              <a:t>Mod</a:t>
            </a:r>
            <a:r>
              <a:rPr lang="" altLang="en-US" b="1" dirty="0"/>
              <a:t>è</a:t>
            </a:r>
            <a:r>
              <a:rPr lang="en-US" altLang="fr-CA" b="1" dirty="0"/>
              <a:t>le </a:t>
            </a:r>
            <a:r>
              <a:rPr lang="en-US" altLang="fr-CA" b="1" dirty="0" err="1"/>
              <a:t>LightGBM</a:t>
            </a:r>
            <a:r>
              <a:rPr lang="en-US" altLang="fr-CA" b="1" dirty="0"/>
              <a:t> + SHAP</a:t>
            </a:r>
            <a:endParaRPr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4600" y="1415138"/>
            <a:ext cx="4129087" cy="49130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Apres avoir implémenté les différents modèles, le choix en terme de performance a porté sur les modèles de réseaux de neurones et </a:t>
            </a:r>
            <a:r>
              <a:rPr lang="fr-FR" b="0" i="0" dirty="0" err="1">
                <a:solidFill>
                  <a:srgbClr val="1F1F1F"/>
                </a:solidFill>
                <a:effectLst/>
                <a:latin typeface="Google Sans Text"/>
              </a:rPr>
              <a:t>LightGBM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Mais en termes de perspectives, on pourrait faire un </a:t>
            </a:r>
            <a:r>
              <a:rPr lang="fr-FR" b="0" i="0" dirty="0" err="1">
                <a:solidFill>
                  <a:srgbClr val="1F1F1F"/>
                </a:solidFill>
                <a:effectLst/>
                <a:latin typeface="Google Sans Text"/>
              </a:rPr>
              <a:t>stacking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 ensemble pour avoir des métriques plus intéressantes.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7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5883275"/>
          </a:xfrm>
        </p:spPr>
        <p:txBody>
          <a:bodyPr/>
          <a:lstStyle/>
          <a:p>
            <a:r>
              <a:rPr lang="fr-FR" dirty="0"/>
              <a:t>Merci pour votre attention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2910</TotalTime>
  <Words>464</Words>
  <Application>Microsoft Office PowerPoint</Application>
  <PresentationFormat>Affichage à l'écran (4:3)</PresentationFormat>
  <Paragraphs>131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Google Sans Text</vt:lpstr>
      <vt:lpstr>Helvetica</vt:lpstr>
      <vt:lpstr>Times New Roman</vt:lpstr>
      <vt:lpstr>Office Theme</vt:lpstr>
      <vt:lpstr>Projet Machine Learning  </vt:lpstr>
      <vt:lpstr>Sommaire </vt:lpstr>
      <vt:lpstr>I-Contexte et Problématique</vt:lpstr>
      <vt:lpstr>II-Les variables </vt:lpstr>
      <vt:lpstr>II-Les variables</vt:lpstr>
      <vt:lpstr>III-Prétraitement</vt:lpstr>
      <vt:lpstr>Régression Logistique avec une régularisation L1 et choix des variables les plus importantes</vt:lpstr>
      <vt:lpstr>IV-Méthodologie</vt:lpstr>
      <vt:lpstr>V-Résultats et Discussions</vt:lpstr>
      <vt:lpstr>V-Résultats et Discussions</vt:lpstr>
      <vt:lpstr>Modèle LightGBM + SHAP</vt:lpstr>
      <vt:lpstr>Conclusion et Perspectives</vt:lpstr>
      <vt:lpstr>Merci pour votre attention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 Machine learning 2</dc:title>
  <dc:subject/>
  <dc:creator>User</dc:creator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2025-09-12T09:58:22Z</dcterms:modified>
  <cp:category/>
</cp:coreProperties>
</file>